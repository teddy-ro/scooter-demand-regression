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22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004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0038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2465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8880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069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420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339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9991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2639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134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6945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66699" cy="68750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24128" y="3861048"/>
            <a:ext cx="27416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n>
                  <a:solidFill>
                    <a:schemeClr val="bg1"/>
                  </a:solidFill>
                </a:ln>
              </a:rPr>
              <a:t>Выполнили работу:</a:t>
            </a:r>
          </a:p>
          <a:p>
            <a:r>
              <a:rPr lang="en-US" sz="2400" dirty="0">
                <a:ln>
                  <a:solidFill>
                    <a:schemeClr val="bg1"/>
                  </a:solidFill>
                </a:ln>
              </a:rPr>
              <a:t>@</a:t>
            </a:r>
            <a:r>
              <a:rPr lang="en-US" sz="2400" dirty="0" smtClean="0">
                <a:ln>
                  <a:solidFill>
                    <a:schemeClr val="bg1"/>
                  </a:solidFill>
                </a:ln>
              </a:rPr>
              <a:t>TheBunzo80</a:t>
            </a:r>
            <a:endParaRPr lang="ru-RU" sz="2400" dirty="0" smtClean="0">
              <a:ln>
                <a:solidFill>
                  <a:schemeClr val="bg1"/>
                </a:solidFill>
              </a:ln>
            </a:endParaRPr>
          </a:p>
          <a:p>
            <a:r>
              <a:rPr lang="en-US" sz="2400" dirty="0">
                <a:ln>
                  <a:solidFill>
                    <a:schemeClr val="bg1"/>
                  </a:solidFill>
                </a:ln>
              </a:rPr>
              <a:t>@</a:t>
            </a:r>
            <a:r>
              <a:rPr lang="en-US" sz="2400" dirty="0" err="1" smtClean="0">
                <a:ln>
                  <a:solidFill>
                    <a:schemeClr val="bg1"/>
                  </a:solidFill>
                </a:ln>
              </a:rPr>
              <a:t>Teddy_Ro</a:t>
            </a:r>
            <a:endParaRPr lang="ru-RU" sz="2400" dirty="0" smtClean="0">
              <a:ln>
                <a:solidFill>
                  <a:schemeClr val="bg1"/>
                </a:solidFill>
              </a:ln>
            </a:endParaRPr>
          </a:p>
          <a:p>
            <a:r>
              <a:rPr lang="en-US" sz="2400" dirty="0">
                <a:ln>
                  <a:solidFill>
                    <a:schemeClr val="bg1"/>
                  </a:solidFill>
                </a:ln>
              </a:rPr>
              <a:t>@</a:t>
            </a:r>
            <a:r>
              <a:rPr lang="en-US" sz="2400" dirty="0" err="1" smtClean="0">
                <a:ln>
                  <a:solidFill>
                    <a:schemeClr val="bg1"/>
                  </a:solidFill>
                </a:ln>
              </a:rPr>
              <a:t>Kosovrr</a:t>
            </a:r>
            <a:endParaRPr lang="ru-RU" sz="2400" dirty="0" smtClean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11960" y="6340678"/>
            <a:ext cx="780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n w="3175">
                  <a:solidFill>
                    <a:schemeClr val="bg1"/>
                  </a:solidFill>
                </a:ln>
              </a:rPr>
              <a:t>2025г.</a:t>
            </a:r>
          </a:p>
        </p:txBody>
      </p:sp>
      <p:sp>
        <p:nvSpPr>
          <p:cNvPr id="7" name="Заголовок 6"/>
          <p:cNvSpPr>
            <a:spLocks noGrp="1"/>
          </p:cNvSpPr>
          <p:nvPr>
            <p:ph type="ctrTitle"/>
          </p:nvPr>
        </p:nvSpPr>
        <p:spPr>
          <a:xfrm>
            <a:off x="539552" y="1340768"/>
            <a:ext cx="8278688" cy="2234679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ru-RU" dirty="0" smtClean="0">
                <a:ln w="19050">
                  <a:solidFill>
                    <a:schemeClr val="bg1"/>
                  </a:solidFill>
                </a:ln>
              </a:rPr>
              <a:t>Проектная работа</a:t>
            </a:r>
            <a:br>
              <a:rPr lang="ru-RU" dirty="0" smtClean="0">
                <a:ln w="19050">
                  <a:solidFill>
                    <a:schemeClr val="bg1"/>
                  </a:solidFill>
                </a:ln>
              </a:rPr>
            </a:br>
            <a:r>
              <a:rPr lang="ru-RU" dirty="0" smtClean="0">
                <a:ln w="19050">
                  <a:solidFill>
                    <a:schemeClr val="bg1"/>
                  </a:solidFill>
                </a:ln>
              </a:rPr>
              <a:t>«</a:t>
            </a:r>
            <a:r>
              <a:rPr lang="ru-RU" b="1" dirty="0" err="1">
                <a:ln w="19050">
                  <a:solidFill>
                    <a:schemeClr val="bg1"/>
                  </a:solidFill>
                </a:ln>
              </a:rPr>
              <a:t>Шеринговые</a:t>
            </a:r>
            <a:r>
              <a:rPr lang="ru-RU" b="1" dirty="0">
                <a:ln w="19050">
                  <a:solidFill>
                    <a:schemeClr val="bg1"/>
                  </a:solidFill>
                </a:ln>
              </a:rPr>
              <a:t> услуги. Анализ спроса на </a:t>
            </a:r>
            <a:r>
              <a:rPr lang="ru-RU" b="1" dirty="0" smtClean="0">
                <a:ln w="19050">
                  <a:solidFill>
                    <a:schemeClr val="bg1"/>
                  </a:solidFill>
                </a:ln>
              </a:rPr>
              <a:t>самокаты</a:t>
            </a:r>
            <a:r>
              <a:rPr lang="ru-RU" dirty="0" smtClean="0">
                <a:ln w="19050">
                  <a:solidFill>
                    <a:schemeClr val="bg1"/>
                  </a:solidFill>
                </a:ln>
              </a:rPr>
              <a:t>»</a:t>
            </a:r>
            <a:endParaRPr lang="ru-RU" dirty="0">
              <a:ln w="19050">
                <a:solidFill>
                  <a:schemeClr val="bg1"/>
                </a:solidFill>
              </a:ln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24128" y="5534899"/>
            <a:ext cx="26040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>
                <a:ln>
                  <a:solidFill>
                    <a:schemeClr val="bg1"/>
                  </a:solidFill>
                </a:ln>
              </a:rPr>
              <a:t>Под руководством</a:t>
            </a:r>
          </a:p>
          <a:p>
            <a:r>
              <a:rPr lang="en-US" sz="2400" dirty="0">
                <a:ln>
                  <a:solidFill>
                    <a:schemeClr val="bg1"/>
                  </a:solidFill>
                </a:ln>
              </a:rPr>
              <a:t>@</a:t>
            </a:r>
            <a:r>
              <a:rPr lang="en-US" sz="2400" dirty="0" err="1">
                <a:ln>
                  <a:solidFill>
                    <a:schemeClr val="bg1"/>
                  </a:solidFill>
                </a:ln>
              </a:rPr>
              <a:t>yugzueva</a:t>
            </a:r>
            <a:endParaRPr lang="ru-RU" sz="2400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327190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384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65487" y="231031"/>
            <a:ext cx="30429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400" dirty="0" smtClean="0">
                <a:ln>
                  <a:solidFill>
                    <a:schemeClr val="bg1"/>
                  </a:solidFill>
                </a:ln>
              </a:rPr>
              <a:t>Введение</a:t>
            </a:r>
            <a:endParaRPr lang="ru-RU" sz="5400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9512" y="1197733"/>
            <a:ext cx="8207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В нашей работе мы выполнили и расскажем </a:t>
            </a:r>
            <a:r>
              <a:rPr lang="ru-RU" sz="2400" dirty="0"/>
              <a:t>з</a:t>
            </a:r>
            <a:r>
              <a:rPr lang="ru-RU" sz="2400" dirty="0" smtClean="0"/>
              <a:t>десь 5 пунктов:</a:t>
            </a:r>
            <a:endParaRPr lang="ru-R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459879" y="2196920"/>
            <a:ext cx="51318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ru-RU" sz="2000" dirty="0" smtClean="0"/>
              <a:t>Предобработка данных</a:t>
            </a:r>
          </a:p>
          <a:p>
            <a:r>
              <a:rPr lang="ru-RU" sz="2000" dirty="0" smtClean="0"/>
              <a:t>	- Погоды</a:t>
            </a:r>
          </a:p>
          <a:p>
            <a:r>
              <a:rPr lang="ru-RU" sz="2000" dirty="0"/>
              <a:t>	</a:t>
            </a:r>
            <a:r>
              <a:rPr lang="ru-RU" sz="2000" dirty="0" smtClean="0"/>
              <a:t>- Поездок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289" y="3212583"/>
            <a:ext cx="44955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- </a:t>
            </a:r>
            <a:r>
              <a:rPr lang="ru-RU" sz="2000" dirty="0"/>
              <a:t>Проведение расчетов и исследований</a:t>
            </a:r>
            <a:endParaRPr lang="ru-RU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448290" y="3612693"/>
            <a:ext cx="22574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- </a:t>
            </a:r>
            <a:r>
              <a:rPr lang="ru-RU" sz="2000" dirty="0"/>
              <a:t>Проверка </a:t>
            </a:r>
            <a:r>
              <a:rPr lang="ru-RU" sz="2000" dirty="0" smtClean="0"/>
              <a:t>гипотез</a:t>
            </a:r>
            <a:endParaRPr lang="ru-RU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448290" y="4012803"/>
            <a:ext cx="37694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- </a:t>
            </a:r>
            <a:r>
              <a:rPr lang="ru-RU" sz="2000" dirty="0"/>
              <a:t>Регрессионное моделирование</a:t>
            </a:r>
            <a:endParaRPr lang="ru-RU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459879" y="4437112"/>
            <a:ext cx="25455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- Создание </a:t>
            </a:r>
            <a:r>
              <a:rPr lang="ru-RU" sz="2000" dirty="0" err="1"/>
              <a:t>д</a:t>
            </a:r>
            <a:r>
              <a:rPr lang="ru-RU" sz="2000" dirty="0" err="1" smtClean="0"/>
              <a:t>ашборда</a:t>
            </a:r>
            <a:endParaRPr lang="ru-RU" sz="2000" dirty="0"/>
          </a:p>
        </p:txBody>
      </p:sp>
      <p:sp>
        <p:nvSpPr>
          <p:cNvPr id="13" name="AutoShape 2" descr="график вверх PNG рисунок, картинки и пнг прозрачный для бесплатной загрузки  | Pngtre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" name="AutoShape 4" descr="график вверх PNG рисунок, картинки и пнг прозрачный для бесплатной загрузки  | Pngtre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5" name="AutoShape 6" descr="график вверх PNG рисунок, картинки и пнг прозрачный для бесплатной загрузки  | Pngtree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6" name="AutoShape 8" descr="график вверх PNG рисунок, картинки и пнг прозрачный для бесплатной загрузки  | Pngtree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728" y="583803"/>
            <a:ext cx="6858000" cy="6858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32296" y="5517232"/>
            <a:ext cx="46115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Цель: предоставить </a:t>
            </a:r>
          </a:p>
          <a:p>
            <a:r>
              <a:rPr lang="ru-RU" dirty="0"/>
              <a:t>в</a:t>
            </a:r>
            <a:r>
              <a:rPr lang="ru-RU" dirty="0" smtClean="0"/>
              <a:t>озможность компании</a:t>
            </a:r>
          </a:p>
          <a:p>
            <a:r>
              <a:rPr lang="ru-RU" dirty="0"/>
              <a:t>п</a:t>
            </a:r>
            <a:r>
              <a:rPr lang="ru-RU" dirty="0" smtClean="0"/>
              <a:t>ерейти на динамическое ценообразование.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6658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75656" y="401981"/>
            <a:ext cx="6879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dirty="0"/>
              <a:t>Предобработка </a:t>
            </a:r>
            <a:r>
              <a:rPr lang="ru-RU" sz="3600" dirty="0" smtClean="0"/>
              <a:t>данных (Поездки)</a:t>
            </a:r>
            <a:endParaRPr lang="ru-RU" sz="3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373" y="4309506"/>
            <a:ext cx="7765243" cy="2188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965078" y="3970951"/>
            <a:ext cx="3156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Первые 10 строк готовой таблицы</a:t>
            </a:r>
            <a:endParaRPr lang="ru-RU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179512" y="1539038"/>
            <a:ext cx="864525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Сначала приводим заголовки в формат </a:t>
            </a:r>
            <a:r>
              <a:rPr lang="en-US" dirty="0" smtClean="0"/>
              <a:t>PEP8, </a:t>
            </a:r>
            <a:r>
              <a:rPr lang="ru-RU" dirty="0" smtClean="0"/>
              <a:t>затем удаляем дубликаты и</a:t>
            </a:r>
          </a:p>
          <a:p>
            <a:r>
              <a:rPr lang="ru-RU" dirty="0"/>
              <a:t>к</a:t>
            </a:r>
            <a:r>
              <a:rPr lang="ru-RU" dirty="0" smtClean="0"/>
              <a:t>онвертируем время в формат </a:t>
            </a:r>
            <a:r>
              <a:rPr lang="en-US" dirty="0" err="1" smtClean="0"/>
              <a:t>DateTime</a:t>
            </a:r>
            <a:r>
              <a:rPr lang="en-US" dirty="0" smtClean="0"/>
              <a:t>.</a:t>
            </a:r>
            <a:endParaRPr lang="ru-RU" dirty="0" smtClean="0"/>
          </a:p>
          <a:p>
            <a:r>
              <a:rPr lang="ru-RU" dirty="0" smtClean="0"/>
              <a:t>Нормализуем текст в данных (</a:t>
            </a:r>
            <a:r>
              <a:rPr lang="ru-RU" dirty="0"/>
              <a:t>удаление '</a:t>
            </a:r>
            <a:r>
              <a:rPr lang="ru-RU" dirty="0" err="1"/>
              <a:t>ул</a:t>
            </a:r>
            <a:r>
              <a:rPr lang="ru-RU" dirty="0"/>
              <a:t>', лишних символов, приведение </a:t>
            </a:r>
            <a:r>
              <a:rPr lang="ru-RU" dirty="0" smtClean="0"/>
              <a:t>регистра)</a:t>
            </a:r>
          </a:p>
          <a:p>
            <a:r>
              <a:rPr lang="ru-RU" dirty="0" smtClean="0"/>
              <a:t>После, фильтруем данные по верхней и нижней границе, заменяя такие значения</a:t>
            </a:r>
          </a:p>
          <a:p>
            <a:r>
              <a:rPr lang="ru-RU" dirty="0"/>
              <a:t>м</a:t>
            </a:r>
            <a:r>
              <a:rPr lang="ru-RU" dirty="0" smtClean="0"/>
              <a:t>едианным  (                                         нормальные поездки)</a:t>
            </a:r>
            <a:endParaRPr lang="ru-RU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697134"/>
            <a:ext cx="1897481" cy="1463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86063" y="3050408"/>
            <a:ext cx="16178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И проверяем</a:t>
            </a:r>
          </a:p>
          <a:p>
            <a:r>
              <a:rPr lang="ru-RU" sz="2000" dirty="0" err="1" smtClean="0"/>
              <a:t>промокоды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974335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4" y="-273"/>
            <a:ext cx="9144364" cy="68582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14991" y="401981"/>
            <a:ext cx="6601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dirty="0"/>
              <a:t>Предобработка </a:t>
            </a:r>
            <a:r>
              <a:rPr lang="ru-RU" sz="3600" dirty="0" smtClean="0"/>
              <a:t>данных (Погода)</a:t>
            </a:r>
            <a:endParaRPr lang="ru-RU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467544" y="1412776"/>
            <a:ext cx="846141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Тут так же, сначала </a:t>
            </a:r>
            <a:r>
              <a:rPr lang="ru-RU" dirty="0"/>
              <a:t>приводим заголовки в формат </a:t>
            </a:r>
            <a:r>
              <a:rPr lang="en-US" dirty="0"/>
              <a:t>PEP8, </a:t>
            </a:r>
            <a:r>
              <a:rPr lang="ru-RU" dirty="0"/>
              <a:t>затем удаляем дубликаты и</a:t>
            </a:r>
          </a:p>
          <a:p>
            <a:r>
              <a:rPr lang="ru-RU" dirty="0"/>
              <a:t>конвертируем время в формат </a:t>
            </a:r>
            <a:r>
              <a:rPr lang="en-US" dirty="0" err="1"/>
              <a:t>DateTime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 smtClean="0"/>
              <a:t>Затем ищем аномалии и выбросы:</a:t>
            </a:r>
            <a:endParaRPr lang="en-US" dirty="0" smtClean="0"/>
          </a:p>
          <a:p>
            <a:r>
              <a:rPr lang="ru-RU" dirty="0" smtClean="0"/>
              <a:t>Обрабатываем пропуски.</a:t>
            </a:r>
          </a:p>
          <a:p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1077" y="1819078"/>
            <a:ext cx="4016369" cy="3219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259632" y="4581128"/>
            <a:ext cx="1920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Итоговая таблица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27" y="5011728"/>
            <a:ext cx="6912768" cy="1874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5518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495" y="0"/>
            <a:ext cx="9195495" cy="68966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5252" y="146836"/>
            <a:ext cx="76991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dirty="0"/>
              <a:t>Проведение расчетов и исследований</a:t>
            </a:r>
            <a:endParaRPr lang="ru-RU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251520" y="924909"/>
            <a:ext cx="26260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У нас было 3 цели:</a:t>
            </a:r>
            <a:endParaRPr lang="ru-R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467544" y="1386574"/>
            <a:ext cx="3551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1. </a:t>
            </a:r>
            <a:r>
              <a:rPr lang="ru-RU" dirty="0"/>
              <a:t>Рассчитать итоговую </a:t>
            </a:r>
            <a:r>
              <a:rPr lang="ru-RU" dirty="0" smtClean="0"/>
              <a:t>стоимость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0762" y="1730252"/>
            <a:ext cx="590764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Сначала, создаем столбец со стоимостью,</a:t>
            </a:r>
          </a:p>
          <a:p>
            <a:r>
              <a:rPr lang="ru-RU" sz="1600" dirty="0" smtClean="0"/>
              <a:t> которая считается исходя из таблицы.</a:t>
            </a:r>
          </a:p>
          <a:p>
            <a:r>
              <a:rPr lang="ru-RU" sz="1600" dirty="0" smtClean="0"/>
              <a:t>Затем, выявляем, окупается ли акция, и строим график на основе</a:t>
            </a:r>
            <a:endParaRPr lang="en-US" sz="1600" dirty="0" smtClean="0"/>
          </a:p>
          <a:p>
            <a:r>
              <a:rPr lang="ru-RU" sz="1600" dirty="0" smtClean="0"/>
              <a:t> поездок с 6 до 10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252" y="1445209"/>
            <a:ext cx="2179211" cy="72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1" y="764705"/>
            <a:ext cx="1852534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525252" y="2884295"/>
            <a:ext cx="63668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2</a:t>
            </a:r>
            <a:r>
              <a:rPr lang="ru-RU" dirty="0" smtClean="0"/>
              <a:t>. </a:t>
            </a:r>
            <a:r>
              <a:rPr lang="ru-RU" dirty="0"/>
              <a:t>Подготовить таблицу с почасовым трафиком в каждой точке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9785" y="3219634"/>
            <a:ext cx="2636753" cy="1432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Прямоугольник 9"/>
          <p:cNvSpPr/>
          <p:nvPr/>
        </p:nvSpPr>
        <p:spPr>
          <a:xfrm>
            <a:off x="10762" y="3356992"/>
            <a:ext cx="457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600" dirty="0" smtClean="0"/>
              <a:t>Для начала считаем почасовой трафик, затем можем получить топ-3 точки по суммарному трафику, а так же 10% нижних точек по суммарному трафику (они могут претендовать на закрытие). Узнаем самые популярные направления, и баланс по точкам</a:t>
            </a:r>
          </a:p>
          <a:p>
            <a:r>
              <a:rPr lang="ru-RU" sz="1400" dirty="0"/>
              <a:t>Вывод: Точки с отрицательным </a:t>
            </a:r>
            <a:r>
              <a:rPr lang="ru-RU" sz="1400" dirty="0" err="1"/>
              <a:t>net_flow</a:t>
            </a:r>
            <a:r>
              <a:rPr lang="ru-RU" sz="1400" dirty="0"/>
              <a:t> </a:t>
            </a:r>
            <a:r>
              <a:rPr lang="ru-RU" sz="1400" dirty="0" smtClean="0"/>
              <a:t>теряют</a:t>
            </a:r>
          </a:p>
          <a:p>
            <a:r>
              <a:rPr lang="ru-RU" sz="1400" dirty="0" smtClean="0"/>
              <a:t>самокаты </a:t>
            </a:r>
            <a:r>
              <a:rPr lang="ru-RU" sz="1400" dirty="0"/>
              <a:t>в течение дня — требуется </a:t>
            </a:r>
            <a:endParaRPr lang="ru-RU" sz="1400" dirty="0" smtClean="0"/>
          </a:p>
          <a:p>
            <a:r>
              <a:rPr lang="ru-RU" sz="1400" dirty="0" smtClean="0"/>
              <a:t>их </a:t>
            </a:r>
            <a:r>
              <a:rPr lang="ru-RU" sz="1400" dirty="0"/>
              <a:t>перераспределение в конце дня. </a:t>
            </a:r>
            <a:endParaRPr lang="ru-RU" sz="1400" dirty="0" smtClean="0"/>
          </a:p>
          <a:p>
            <a:r>
              <a:rPr lang="ru-RU" sz="1400" dirty="0" smtClean="0"/>
              <a:t>Точки </a:t>
            </a:r>
            <a:r>
              <a:rPr lang="ru-RU" sz="1400" dirty="0"/>
              <a:t>с положительным </a:t>
            </a:r>
            <a:r>
              <a:rPr lang="ru-RU" sz="1400" dirty="0" err="1"/>
              <a:t>net_flow</a:t>
            </a:r>
            <a:r>
              <a:rPr lang="ru-RU" sz="1400" dirty="0"/>
              <a:t> </a:t>
            </a:r>
            <a:r>
              <a:rPr lang="ru-RU" sz="1400" dirty="0" smtClean="0"/>
              <a:t>накапливают</a:t>
            </a:r>
          </a:p>
          <a:p>
            <a:r>
              <a:rPr lang="ru-RU" sz="1400" dirty="0" smtClean="0"/>
              <a:t>самокаты</a:t>
            </a:r>
          </a:p>
          <a:p>
            <a:r>
              <a:rPr lang="ru-RU" sz="1400" dirty="0" smtClean="0"/>
              <a:t>— </a:t>
            </a:r>
            <a:r>
              <a:rPr lang="ru-RU" sz="1400" dirty="0"/>
              <a:t>возможны точки для забора лишних самокатов.</a:t>
            </a:r>
            <a:endParaRPr lang="ru-RU" sz="1400" dirty="0"/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4883255"/>
            <a:ext cx="2151250" cy="2004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206" y="4942185"/>
            <a:ext cx="2484599" cy="1895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6203159" y="4744755"/>
            <a:ext cx="28546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 smtClean="0"/>
              <a:t>Необходимое кол-во самокатов на точку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617208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620" y="-42088"/>
            <a:ext cx="9267140" cy="6950355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680808" y="188640"/>
            <a:ext cx="76991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3600" dirty="0"/>
              <a:t>Проведение расчетов и исследований</a:t>
            </a:r>
            <a:endParaRPr lang="ru-RU" sz="36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80808" y="1052736"/>
            <a:ext cx="79956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/>
              <a:t>3. </a:t>
            </a:r>
            <a:r>
              <a:rPr lang="ru-RU" sz="2000" dirty="0"/>
              <a:t>Исследовать </a:t>
            </a:r>
            <a:r>
              <a:rPr lang="ru-RU" sz="2000" dirty="0" smtClean="0"/>
              <a:t>корреляцию.</a:t>
            </a:r>
            <a:endParaRPr lang="ru-RU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827584" y="1516142"/>
            <a:ext cx="64147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Выявляем спрос по часам. Он получился </a:t>
            </a:r>
            <a:r>
              <a:rPr lang="ru-RU" dirty="0"/>
              <a:t>2415 </a:t>
            </a:r>
            <a:r>
              <a:rPr lang="ru-RU" dirty="0" smtClean="0"/>
              <a:t>записей</a:t>
            </a:r>
          </a:p>
          <a:p>
            <a:r>
              <a:rPr lang="ru-RU" dirty="0" smtClean="0"/>
              <a:t>Добавляем календарные признаки, и теперь можем построить</a:t>
            </a:r>
          </a:p>
          <a:p>
            <a:r>
              <a:rPr lang="ru-RU" dirty="0" smtClean="0"/>
              <a:t>удобный график влияний</a:t>
            </a:r>
          </a:p>
          <a:p>
            <a:r>
              <a:rPr lang="ru-RU" dirty="0"/>
              <a:t>н</a:t>
            </a:r>
            <a:r>
              <a:rPr lang="ru-RU" dirty="0" smtClean="0"/>
              <a:t>а спрос.</a:t>
            </a:r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5581" y="2132856"/>
            <a:ext cx="5168419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30" y="3461239"/>
            <a:ext cx="3942851" cy="3388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07504" y="3059080"/>
            <a:ext cx="3271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И строим матрицу корреляций.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3684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5613"/>
            <a:ext cx="9258150" cy="69436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86115" y="260648"/>
            <a:ext cx="3674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Проверка гипотез</a:t>
            </a:r>
            <a:endParaRPr lang="ru-RU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467543" y="980728"/>
            <a:ext cx="75738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Гипотеза </a:t>
            </a:r>
            <a:r>
              <a:rPr lang="ru-RU" b="1" dirty="0"/>
              <a:t>1: Верно ли, что в дождливое время спрос на самокаты ниже?</a:t>
            </a:r>
            <a:endParaRPr lang="ru-RU" dirty="0"/>
          </a:p>
          <a:p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467543" y="1314137"/>
            <a:ext cx="4827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Строим график по количеству поездок и мм осадков:</a:t>
            </a:r>
            <a:endParaRPr lang="ru-RU" sz="16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577" y="1303893"/>
            <a:ext cx="3907978" cy="1928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467543" y="1657737"/>
            <a:ext cx="37081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Гипотеза </a:t>
            </a:r>
            <a:r>
              <a:rPr lang="ru-RU" b="1" dirty="0"/>
              <a:t>2</a:t>
            </a:r>
            <a:r>
              <a:rPr lang="ru-RU" b="1" dirty="0" smtClean="0"/>
              <a:t>: </a:t>
            </a:r>
            <a:r>
              <a:rPr lang="ru-RU" b="1" dirty="0"/>
              <a:t>Отличается ли средняя </a:t>
            </a:r>
            <a:endParaRPr lang="ru-RU" b="1" dirty="0" smtClean="0"/>
          </a:p>
          <a:p>
            <a:r>
              <a:rPr lang="ru-RU" b="1" dirty="0"/>
              <a:t>с</a:t>
            </a:r>
            <a:r>
              <a:rPr lang="ru-RU" b="1" dirty="0" smtClean="0"/>
              <a:t>тоимость поездки </a:t>
            </a:r>
            <a:r>
              <a:rPr lang="ru-RU" b="1" dirty="0"/>
              <a:t>по районам</a:t>
            </a:r>
            <a:r>
              <a:rPr lang="ru-RU" b="1" dirty="0" smtClean="0"/>
              <a:t>?</a:t>
            </a:r>
            <a:endParaRPr lang="ru-RU" dirty="0"/>
          </a:p>
          <a:p>
            <a:endParaRPr lang="ru-RU" dirty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692696"/>
            <a:ext cx="5282224" cy="2488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500115" y="2268317"/>
            <a:ext cx="34958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Строим график по районам и средней стоимости: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500115" y="3140968"/>
            <a:ext cx="7338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Гипотеза 3: Спрос на самокаты меняется в зависимости от дня </a:t>
            </a:r>
            <a:r>
              <a:rPr lang="ru-RU" b="1" dirty="0" smtClean="0"/>
              <a:t>недели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611560" y="3510300"/>
            <a:ext cx="3097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Проведем анализ и выясним:</a:t>
            </a:r>
            <a:endParaRPr lang="ru-RU" dirty="0"/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993" y="968148"/>
            <a:ext cx="7664007" cy="1711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Прямоугольник 11"/>
          <p:cNvSpPr/>
          <p:nvPr/>
        </p:nvSpPr>
        <p:spPr>
          <a:xfrm>
            <a:off x="467542" y="4005064"/>
            <a:ext cx="79928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Гипотеза </a:t>
            </a:r>
            <a:r>
              <a:rPr lang="ru-RU" b="1" dirty="0" smtClean="0"/>
              <a:t>4: </a:t>
            </a:r>
            <a:r>
              <a:rPr lang="ru-RU" b="1" dirty="0"/>
              <a:t>Верно ли, что в выходные дни поездки более длительные</a:t>
            </a:r>
            <a:r>
              <a:rPr lang="ru-RU" b="1" dirty="0" smtClean="0"/>
              <a:t>?</a:t>
            </a:r>
            <a:endParaRPr lang="ru-RU" dirty="0"/>
          </a:p>
        </p:txBody>
      </p:sp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993" y="798538"/>
            <a:ext cx="5419664" cy="2342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Прямоугольник 12"/>
          <p:cNvSpPr/>
          <p:nvPr/>
        </p:nvSpPr>
        <p:spPr>
          <a:xfrm>
            <a:off x="642818" y="4386894"/>
            <a:ext cx="30971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Проведем анализ и </a:t>
            </a:r>
            <a:r>
              <a:rPr lang="ru-RU" dirty="0" smtClean="0"/>
              <a:t>выясним: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500114" y="4941168"/>
            <a:ext cx="77442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Гипотеза </a:t>
            </a:r>
            <a:r>
              <a:rPr lang="ru-RU" b="1" dirty="0" smtClean="0"/>
              <a:t>5: </a:t>
            </a:r>
            <a:r>
              <a:rPr lang="ru-RU" b="1" dirty="0"/>
              <a:t>Верно ли, что в будние дни поездки более скоростные?</a:t>
            </a:r>
            <a:endParaRPr lang="ru-RU" dirty="0"/>
          </a:p>
        </p:txBody>
      </p:sp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111" y="295034"/>
            <a:ext cx="5049665" cy="278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Прямоугольник 20"/>
          <p:cNvSpPr/>
          <p:nvPr/>
        </p:nvSpPr>
        <p:spPr>
          <a:xfrm>
            <a:off x="699460" y="5373216"/>
            <a:ext cx="30971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Проведем анализ и </a:t>
            </a:r>
            <a:r>
              <a:rPr lang="ru-RU" dirty="0" smtClean="0"/>
              <a:t>выясним: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7491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122"/>
            <a:ext cx="9252520" cy="69393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73683" y="260648"/>
            <a:ext cx="29051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 smtClean="0"/>
              <a:t>Итоги гипотез</a:t>
            </a:r>
            <a:endParaRPr lang="ru-RU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323528" y="1124744"/>
            <a:ext cx="7416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1. ГИПОТЕЗА 1: в дождливое время спрос на самокаты </a:t>
            </a:r>
            <a:r>
              <a:rPr lang="ru-RU" sz="2000" b="1" dirty="0" smtClean="0"/>
              <a:t>ниже.</a:t>
            </a:r>
            <a:endParaRPr lang="ru-RU" sz="20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11560" y="1412776"/>
            <a:ext cx="64807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u="sng" dirty="0"/>
              <a:t>ПОДТВЕРЖДЕНА.</a:t>
            </a:r>
            <a:r>
              <a:rPr lang="ru-RU" dirty="0"/>
              <a:t> Это вычисляется исходя из графика, в нем показана очень сильная </a:t>
            </a:r>
            <a:r>
              <a:rPr lang="ru-RU" dirty="0" smtClean="0"/>
              <a:t>зависимость.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323527" y="2082579"/>
            <a:ext cx="74168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2. ГИПОТЕЗА 2: Отличается ли средняя стоимость поездки по районам?</a:t>
            </a:r>
            <a:endParaRPr lang="ru-RU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11560" y="2752854"/>
            <a:ext cx="5451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u="sng" dirty="0"/>
              <a:t>ПОДТВЕРЖДЕНА</a:t>
            </a:r>
            <a:r>
              <a:rPr lang="ru-RU" dirty="0"/>
              <a:t>. Средняя стоимость поездок </a:t>
            </a:r>
            <a:r>
              <a:rPr lang="ru-RU" dirty="0" smtClean="0"/>
              <a:t>разная.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23527" y="3122186"/>
            <a:ext cx="86218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/>
              <a:t>3. </a:t>
            </a:r>
            <a:r>
              <a:rPr lang="ru-RU" sz="2000" b="1" dirty="0" smtClean="0"/>
              <a:t>ГИПОТЕЗА </a:t>
            </a:r>
            <a:r>
              <a:rPr lang="ru-RU" sz="2000" b="1" dirty="0"/>
              <a:t>3: Спрос на самокаты меняется в зависимости от дня </a:t>
            </a:r>
            <a:r>
              <a:rPr lang="ru-RU" sz="2000" b="1" dirty="0" smtClean="0"/>
              <a:t>недели.</a:t>
            </a:r>
            <a:endParaRPr lang="ru-RU" sz="20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683568" y="3573016"/>
            <a:ext cx="32104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u="sng" dirty="0"/>
              <a:t>ПОДТВЕРЖДЕНА.</a:t>
            </a:r>
            <a:r>
              <a:rPr lang="ru-RU" dirty="0"/>
              <a:t> </a:t>
            </a:r>
            <a:r>
              <a:rPr lang="ru-RU" dirty="0"/>
              <a:t> </a:t>
            </a:r>
            <a:r>
              <a:rPr lang="ru-RU" dirty="0" smtClean="0"/>
              <a:t>  </a:t>
            </a:r>
          </a:p>
          <a:p>
            <a:r>
              <a:rPr lang="ru-RU" dirty="0" smtClean="0"/>
              <a:t>Самый </a:t>
            </a:r>
            <a:r>
              <a:rPr lang="ru-RU" dirty="0"/>
              <a:t>популярный день: </a:t>
            </a:r>
            <a:r>
              <a:rPr lang="ru-RU" dirty="0" err="1"/>
              <a:t>Вс</a:t>
            </a:r>
            <a:r>
              <a:rPr lang="ru-RU" dirty="0"/>
              <a:t> </a:t>
            </a:r>
            <a:endParaRPr lang="ru-RU" dirty="0" smtClean="0"/>
          </a:p>
          <a:p>
            <a:r>
              <a:rPr lang="ru-RU" dirty="0" smtClean="0"/>
              <a:t>Самый </a:t>
            </a:r>
            <a:r>
              <a:rPr lang="ru-RU" dirty="0"/>
              <a:t>непопулярный день: Вт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322646" y="4496346"/>
            <a:ext cx="6938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/>
              <a:t>4. ГИПОТЕЗА 4: В выходные дни поездки более </a:t>
            </a:r>
            <a:r>
              <a:rPr lang="ru-RU" sz="2000" b="1" dirty="0" smtClean="0"/>
              <a:t>длительные.</a:t>
            </a:r>
            <a:endParaRPr lang="ru-RU" sz="20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11559" y="4896456"/>
            <a:ext cx="7341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u="sng" dirty="0"/>
              <a:t>ПОДТВЕРЖДЕНА.</a:t>
            </a:r>
            <a:r>
              <a:rPr lang="ru-RU" dirty="0"/>
              <a:t> Поездки в выходные длиннее в среднем на 1.84 минут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323528" y="5317177"/>
            <a:ext cx="65283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/>
              <a:t>5. ГИПОТЕЗА 5: В будние дни поездки более </a:t>
            </a:r>
            <a:r>
              <a:rPr lang="ru-RU" sz="2000" b="1" dirty="0" smtClean="0"/>
              <a:t>скоростные.</a:t>
            </a:r>
            <a:endParaRPr lang="ru-RU" sz="20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611559" y="5717287"/>
            <a:ext cx="6772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u="sng" dirty="0"/>
              <a:t>ПОДТВЕРЖДЕНА.</a:t>
            </a:r>
            <a:r>
              <a:rPr lang="ru-RU" dirty="0"/>
              <a:t> Поездки в будни быстрее в среднем на 0.27 км/ч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8384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81577"/>
            <a:ext cx="9289032" cy="69667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3155" y="260648"/>
            <a:ext cx="63896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Регрессионное моделирование</a:t>
            </a:r>
            <a:endParaRPr lang="ru-RU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185607" y="1196751"/>
            <a:ext cx="8844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Для начала, приводим столбцы к </a:t>
            </a:r>
            <a:r>
              <a:rPr lang="en-US" dirty="0" err="1" smtClean="0"/>
              <a:t>Datetime</a:t>
            </a:r>
            <a:r>
              <a:rPr lang="ru-RU" dirty="0"/>
              <a:t> </a:t>
            </a:r>
            <a:r>
              <a:rPr lang="ru-RU" dirty="0" smtClean="0"/>
              <a:t>и округляем до часа. Разбиваем по времени,</a:t>
            </a:r>
          </a:p>
          <a:p>
            <a:r>
              <a:rPr lang="ru-RU" dirty="0" smtClean="0"/>
              <a:t>Обнаруживаем признаки и </a:t>
            </a:r>
            <a:r>
              <a:rPr lang="ru-RU" dirty="0" err="1" smtClean="0"/>
              <a:t>таргет</a:t>
            </a:r>
            <a:r>
              <a:rPr lang="ru-RU" dirty="0" smtClean="0"/>
              <a:t>. Обучаем модель и получаем такой график:</a:t>
            </a:r>
            <a:endParaRPr lang="ru-RU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9518" y="1843083"/>
            <a:ext cx="3767932" cy="280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95536" y="1988840"/>
            <a:ext cx="396467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</a:t>
            </a:r>
            <a:r>
              <a:rPr lang="ru-RU" dirty="0" smtClean="0"/>
              <a:t>мотрим </a:t>
            </a:r>
            <a:r>
              <a:rPr lang="ru-RU" dirty="0"/>
              <a:t>максимум, чтобы </a:t>
            </a:r>
            <a:r>
              <a:rPr lang="ru-RU" dirty="0" smtClean="0"/>
              <a:t>последний</a:t>
            </a:r>
          </a:p>
          <a:p>
            <a:r>
              <a:rPr lang="ru-RU" dirty="0" smtClean="0"/>
              <a:t>бин </a:t>
            </a:r>
            <a:r>
              <a:rPr lang="ru-RU" dirty="0"/>
              <a:t>был чуть </a:t>
            </a:r>
            <a:r>
              <a:rPr lang="ru-RU" dirty="0" smtClean="0"/>
              <a:t>выше.</a:t>
            </a:r>
          </a:p>
          <a:p>
            <a:endParaRPr lang="ru-RU" dirty="0"/>
          </a:p>
          <a:p>
            <a:r>
              <a:rPr lang="ru-RU" dirty="0"/>
              <a:t>С</a:t>
            </a:r>
            <a:r>
              <a:rPr lang="ru-RU" dirty="0" smtClean="0"/>
              <a:t>мотрим </a:t>
            </a:r>
            <a:r>
              <a:rPr lang="ru-RU" dirty="0"/>
              <a:t>максимум, чтобы </a:t>
            </a:r>
            <a:endParaRPr lang="ru-RU" dirty="0" smtClean="0"/>
          </a:p>
          <a:p>
            <a:r>
              <a:rPr lang="ru-RU" dirty="0" smtClean="0"/>
              <a:t>последний </a:t>
            </a:r>
            <a:r>
              <a:rPr lang="ru-RU" dirty="0"/>
              <a:t>бин был чуть выше</a:t>
            </a:r>
          </a:p>
          <a:p>
            <a:endParaRPr lang="ru-RU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11" y="3573016"/>
            <a:ext cx="4942671" cy="2461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0335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8563"/>
            <a:ext cx="9324528" cy="69933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72672" y="188640"/>
            <a:ext cx="49791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 err="1" smtClean="0"/>
              <a:t>Дашборд</a:t>
            </a:r>
            <a:r>
              <a:rPr lang="ru-RU" sz="3600" dirty="0" smtClean="0"/>
              <a:t> и презентация</a:t>
            </a:r>
            <a:endParaRPr lang="ru-RU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52736"/>
            <a:ext cx="37444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Создаем </a:t>
            </a:r>
            <a:r>
              <a:rPr lang="ru-RU" sz="2400" dirty="0" err="1" smtClean="0"/>
              <a:t>дашборд</a:t>
            </a:r>
            <a:r>
              <a:rPr lang="ru-RU" sz="2400" dirty="0" smtClean="0"/>
              <a:t>, </a:t>
            </a:r>
          </a:p>
          <a:p>
            <a:r>
              <a:rPr lang="ru-RU" sz="2400" dirty="0" smtClean="0"/>
              <a:t>в котором только самые </a:t>
            </a:r>
          </a:p>
          <a:p>
            <a:r>
              <a:rPr lang="ru-RU" sz="2400" dirty="0" smtClean="0"/>
              <a:t>важные для компании </a:t>
            </a:r>
          </a:p>
          <a:p>
            <a:r>
              <a:rPr lang="ru-RU" sz="2400" dirty="0" smtClean="0"/>
              <a:t>графики и данные</a:t>
            </a:r>
            <a:r>
              <a:rPr lang="ru-RU" sz="2000" dirty="0" smtClean="0"/>
              <a:t>:</a:t>
            </a:r>
            <a:endParaRPr lang="ru-RU" sz="20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93843">
            <a:off x="6058315" y="3885542"/>
            <a:ext cx="3030650" cy="3024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3528" y="3717032"/>
            <a:ext cx="7272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Так же создаем эту презентацию, в которой </a:t>
            </a:r>
          </a:p>
          <a:p>
            <a:r>
              <a:rPr lang="ru-RU" sz="2400" dirty="0" smtClean="0"/>
              <a:t>Кратко рассказывается о всех частях проекта</a:t>
            </a:r>
          </a:p>
          <a:p>
            <a:r>
              <a:rPr lang="ru-RU" sz="2400" dirty="0" smtClean="0"/>
              <a:t>И собрана самая важная информация</a:t>
            </a:r>
            <a:endParaRPr lang="ru-RU" sz="2400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932" y="764703"/>
            <a:ext cx="5076564" cy="29136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12160" y="1088131"/>
            <a:ext cx="1426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Тут </a:t>
            </a:r>
            <a:r>
              <a:rPr lang="ru-RU" dirty="0" err="1" smtClean="0"/>
              <a:t>дашборд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3429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1419"/>
            <a:ext cx="9612560" cy="72094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57705" y="-1"/>
            <a:ext cx="129715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dirty="0" smtClean="0"/>
              <a:t>Итак</a:t>
            </a:r>
            <a:endParaRPr lang="ru-RU" sz="6600" dirty="0"/>
          </a:p>
        </p:txBody>
      </p:sp>
      <p:sp>
        <p:nvSpPr>
          <p:cNvPr id="6" name="TextBox 5"/>
          <p:cNvSpPr txBox="1"/>
          <p:nvPr/>
        </p:nvSpPr>
        <p:spPr>
          <a:xfrm>
            <a:off x="82070" y="620688"/>
            <a:ext cx="841961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В ходе данной работы мы выполнили поставленные задачи, и </a:t>
            </a:r>
            <a:endParaRPr lang="en-US" sz="2400" dirty="0" smtClean="0"/>
          </a:p>
          <a:p>
            <a:r>
              <a:rPr lang="ru-RU" sz="2400" dirty="0" smtClean="0"/>
              <a:t>обрели бесценный опыт и умения.</a:t>
            </a:r>
          </a:p>
          <a:p>
            <a:r>
              <a:rPr lang="ru-RU" sz="2400" dirty="0" smtClean="0"/>
              <a:t>Мы:</a:t>
            </a:r>
          </a:p>
          <a:p>
            <a:pPr marL="285750" indent="-285750">
              <a:buFontTx/>
              <a:buChar char="-"/>
            </a:pPr>
            <a:r>
              <a:rPr lang="ru-RU" sz="2400" dirty="0" smtClean="0"/>
              <a:t>Подготовили данные для удобной работы</a:t>
            </a:r>
          </a:p>
          <a:p>
            <a:pPr marL="285750" indent="-285750">
              <a:buFontTx/>
              <a:buChar char="-"/>
            </a:pPr>
            <a:r>
              <a:rPr lang="ru-RU" sz="2400" dirty="0" smtClean="0"/>
              <a:t>Провели расчеты и исследования</a:t>
            </a:r>
          </a:p>
          <a:p>
            <a:pPr marL="285750" indent="-285750">
              <a:buFontTx/>
              <a:buChar char="-"/>
            </a:pPr>
            <a:r>
              <a:rPr lang="ru-RU" sz="2400" dirty="0" smtClean="0"/>
              <a:t>Проверили возникающие гипотезы</a:t>
            </a:r>
          </a:p>
          <a:p>
            <a:pPr marL="285750" indent="-285750">
              <a:buFontTx/>
              <a:buChar char="-"/>
            </a:pPr>
            <a:r>
              <a:rPr lang="ru-RU" sz="2400" dirty="0" smtClean="0"/>
              <a:t>Провели регрессионное моделирование</a:t>
            </a:r>
          </a:p>
          <a:p>
            <a:pPr marL="285750" indent="-285750">
              <a:buFontTx/>
              <a:buChar char="-"/>
            </a:pPr>
            <a:r>
              <a:rPr lang="ru-RU" sz="2400" dirty="0" smtClean="0"/>
              <a:t>Составили </a:t>
            </a:r>
            <a:r>
              <a:rPr lang="ru-RU" sz="2400" dirty="0" err="1" smtClean="0"/>
              <a:t>дашборд</a:t>
            </a:r>
            <a:endParaRPr lang="ru-RU" sz="24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138656" y="3789040"/>
            <a:ext cx="848854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Теперь компания, предоставляющая услуги проката самокатов </a:t>
            </a:r>
            <a:endParaRPr lang="en-US" sz="2400" dirty="0" smtClean="0"/>
          </a:p>
          <a:p>
            <a:r>
              <a:rPr lang="ru-RU" sz="2400" dirty="0" smtClean="0"/>
              <a:t>Может</a:t>
            </a:r>
            <a:r>
              <a:rPr lang="en-US" sz="2400" dirty="0" smtClean="0"/>
              <a:t> </a:t>
            </a:r>
            <a:r>
              <a:rPr lang="ru-RU" sz="2400" dirty="0" smtClean="0"/>
              <a:t>увидеть в нормальном виде все свои результаты. </a:t>
            </a:r>
          </a:p>
          <a:p>
            <a:r>
              <a:rPr lang="ru-RU" sz="2400" dirty="0" smtClean="0"/>
              <a:t>И компания может перейти на желанный </a:t>
            </a:r>
          </a:p>
          <a:p>
            <a:r>
              <a:rPr lang="ru-RU" sz="2400" dirty="0" smtClean="0"/>
              <a:t>динамический способ ценообразования,</a:t>
            </a:r>
          </a:p>
          <a:p>
            <a:r>
              <a:rPr lang="ru-RU" sz="2400" b="1" dirty="0" smtClean="0"/>
              <a:t>А значит цель проекта достигнута!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4273996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980" y="-99392"/>
            <a:ext cx="9351284" cy="70134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1520" y="173831"/>
            <a:ext cx="4176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Спасибо за внимание!</a:t>
            </a:r>
            <a:endParaRPr lang="ru-RU" sz="32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51520" y="758606"/>
            <a:ext cx="24866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У нас все получилось</a:t>
            </a:r>
            <a:endParaRPr lang="ru-RU" sz="20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758606"/>
            <a:ext cx="400110" cy="400110"/>
          </a:xfrm>
          <a:prstGeom prst="rect">
            <a:avLst/>
          </a:prstGeom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3879" y="-99392"/>
            <a:ext cx="3449425" cy="7036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51520" y="6237312"/>
            <a:ext cx="2320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smtClean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latin typeface="Roboto"/>
              </a:rPr>
              <a:t>Яндекс Лицей</a:t>
            </a:r>
            <a:endParaRPr lang="ru-RU" sz="2400" b="1" dirty="0">
              <a:ln w="3175">
                <a:solidFill>
                  <a:schemeClr val="tx1"/>
                </a:solidFill>
              </a:ln>
              <a:solidFill>
                <a:schemeClr val="bg1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025216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</TotalTime>
  <Words>716</Words>
  <Application>Microsoft Office PowerPoint</Application>
  <PresentationFormat>Экран (4:3)</PresentationFormat>
  <Paragraphs>117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Проектная работа «Шеринговые услуги. Анализ спроса на самокаты»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Проектная работа «Шеринговые услуги. Анализ спроса на самокаты»</dc:title>
  <dc:creator>USER</dc:creator>
  <cp:lastModifiedBy>USER</cp:lastModifiedBy>
  <cp:revision>23</cp:revision>
  <dcterms:created xsi:type="dcterms:W3CDTF">2025-12-16T13:54:16Z</dcterms:created>
  <dcterms:modified xsi:type="dcterms:W3CDTF">2025-12-16T16:41:50Z</dcterms:modified>
</cp:coreProperties>
</file>